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1427" y="1871823"/>
            <a:ext cx="7657112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500" b="1" dirty="0">
                <a:solidFill>
                  <a:srgbClr val="FFFFFF"/>
                </a:solidFill>
                <a:latin typeface="Poppins"/>
              </a:rPr>
              <a:t>Aviation sector data analysis</a:t>
            </a:r>
            <a:endParaRPr sz="450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0912" y="3729037"/>
            <a:ext cx="521017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dirty="0">
                <a:solidFill>
                  <a:srgbClr val="CBD5E1"/>
                </a:solidFill>
                <a:latin typeface="Lato"/>
              </a:rPr>
              <a:t>Exploring data infrastructure and its operational and financial importance in decision making</a:t>
            </a:r>
            <a:endParaRPr sz="1350" b="0" i="0" u="none" dirty="0">
              <a:solidFill>
                <a:srgbClr val="CBD5E1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25416" y="2895600"/>
            <a:ext cx="10161981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750" b="1" dirty="0">
                <a:solidFill>
                  <a:srgbClr val="FFFFFF"/>
                </a:solidFill>
                <a:latin typeface="Poppins"/>
              </a:rPr>
              <a:t>Dataset components</a:t>
            </a:r>
            <a:r>
              <a:rPr sz="3750" b="1" i="0" u="none" dirty="0">
                <a:solidFill>
                  <a:srgbClr val="FFFFFF"/>
                </a:solidFill>
                <a:latin typeface="Poppins"/>
              </a:rPr>
              <a:t>(Dataset Structure)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1000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 dirty="0">
                <a:solidFill>
                  <a:srgbClr val="94A3B8"/>
                </a:solidFill>
                <a:latin typeface="Lato"/>
              </a:rPr>
              <a:t>The analytical environment consists of four main integrated tables covering operational, financial, customer reservations, and passenger data.</a:t>
            </a:r>
            <a:endParaRPr sz="1500" b="0" i="0" u="none" dirty="0">
              <a:solidFill>
                <a:srgbClr val="94A3B8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09850"/>
            <a:ext cx="3492549" cy="2447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609850"/>
            <a:ext cx="3492549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609850"/>
            <a:ext cx="3492549" cy="2447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dirty="0">
                <a:solidFill>
                  <a:srgbClr val="1E293B"/>
                </a:solidFill>
                <a:latin typeface="Poppins"/>
              </a:rPr>
              <a:t>Basic system tables</a:t>
            </a:r>
            <a:endParaRPr sz="2700" b="0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4321" y="3385280"/>
            <a:ext cx="273445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rgbClr val="0284C7"/>
                </a:solidFill>
                <a:latin typeface="Poppins"/>
              </a:rPr>
              <a:t>Operations and aircraft</a:t>
            </a:r>
            <a:endParaRPr sz="1800" b="1" i="0" u="none" dirty="0">
              <a:solidFill>
                <a:srgbClr val="0284C7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3933825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475569"/>
                </a:solidFill>
                <a:latin typeface="Lato"/>
              </a:rPr>
              <a:t>Includes fleet data, aircraft models, aircraft ages, maintenance costs, fuel consumption, and safety ratings.</a:t>
            </a:r>
            <a:endParaRPr sz="120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50906" y="3385280"/>
            <a:ext cx="16195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rgbClr val="0284C7"/>
                </a:solidFill>
                <a:latin typeface="Poppins"/>
              </a:rPr>
              <a:t>Reservations and tickets</a:t>
            </a:r>
            <a:endParaRPr sz="1800" b="1" i="0" u="none" dirty="0">
              <a:solidFill>
                <a:srgbClr val="0284C7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5074" y="3933825"/>
            <a:ext cx="2901999" cy="667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475569"/>
                </a:solidFill>
                <a:latin typeface="Lato"/>
              </a:rPr>
              <a:t>It contains reservation details, ticket prices, discounts, item weights, payment methods, and customer satisfaction ratings.</a:t>
            </a:r>
            <a:endParaRPr sz="120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94295" y="3415260"/>
            <a:ext cx="263107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rgbClr val="0284C7"/>
                </a:solidFill>
                <a:latin typeface="Poppins"/>
              </a:rPr>
              <a:t>Customer and loyalty data</a:t>
            </a:r>
            <a:endParaRPr sz="1800" b="1" i="0" u="none" dirty="0">
              <a:solidFill>
                <a:srgbClr val="0284C7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23374" y="3933825"/>
            <a:ext cx="2901999" cy="667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475569"/>
                </a:solidFill>
                <a:latin typeface="Lato"/>
              </a:rPr>
              <a:t>Tracks personal passenger information, loyalty tiers, membership tiers, and annual travel rate.</a:t>
            </a:r>
            <a:endParaRPr sz="1200" b="0" i="0" u="none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387" y="2943225"/>
            <a:ext cx="4286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7" y="2943225"/>
            <a:ext cx="4286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6174" y="2943225"/>
            <a:ext cx="476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dirty="0">
                <a:solidFill>
                  <a:srgbClr val="1E293B"/>
                </a:solidFill>
                <a:latin typeface="Poppins"/>
              </a:rPr>
              <a:t>Schedule details and scheduling of flights</a:t>
            </a:r>
            <a:endParaRPr sz="2700" b="0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4875" y="3190875"/>
            <a:ext cx="10715625" cy="236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Schedule Management: Accurately compares scheduled and actual take-off and landing times to accurately calculate delays (</a:t>
            </a:r>
            <a:r>
              <a:rPr lang="en-US" sz="1350" b="1" dirty="0" err="1">
                <a:solidFill>
                  <a:srgbClr val="1E293B"/>
                </a:solidFill>
                <a:latin typeface="Lato"/>
              </a:rPr>
              <a:t>Delay_Minutes</a:t>
            </a:r>
            <a:r>
              <a:rPr lang="en-US" sz="1350" b="1" dirty="0">
                <a:solidFill>
                  <a:srgbClr val="1E293B"/>
                </a:solidFill>
                <a:latin typeface="Lato"/>
              </a:rPr>
              <a:t>).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4875" y="3619500"/>
            <a:ext cx="10715625" cy="236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Geographical routes: linking departure and arrival airports and calculating distances in kilometers (</a:t>
            </a:r>
            <a:r>
              <a:rPr lang="en-US" sz="1350" b="1" dirty="0" err="1">
                <a:solidFill>
                  <a:srgbClr val="1E293B"/>
                </a:solidFill>
                <a:latin typeface="Lato"/>
              </a:rPr>
              <a:t>Distance_KM</a:t>
            </a:r>
            <a:r>
              <a:rPr lang="en-US" sz="1350" b="1" dirty="0">
                <a:solidFill>
                  <a:srgbClr val="1E293B"/>
                </a:solidFill>
                <a:latin typeface="Lato"/>
              </a:rPr>
              <a:t>).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4875" y="4048125"/>
            <a:ext cx="10715625" cy="236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Status follow-up: Records flight statuses such as (scheduled, departed, delayed, or cancelled) and the reasons for cancellation, if any.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1468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4331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7193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809875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725" y="2903565"/>
            <a:ext cx="1098779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750" b="1" dirty="0">
                <a:solidFill>
                  <a:srgbClr val="FFFFFF"/>
                </a:solidFill>
                <a:latin typeface="Poppins"/>
              </a:rPr>
              <a:t>The importance of this data in business analysis</a:t>
            </a:r>
            <a:endParaRPr sz="37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800" y="4042815"/>
            <a:ext cx="5486400" cy="55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 dirty="0">
                <a:solidFill>
                  <a:srgbClr val="94A3B8"/>
                </a:solidFill>
                <a:latin typeface="Lato"/>
              </a:rPr>
              <a:t>How data engineering and analysis transform operational processes into profitable strategic and financial insights.</a:t>
            </a:r>
            <a:endParaRPr sz="1500" b="0" i="0" u="none" dirty="0">
              <a:solidFill>
                <a:srgbClr val="94A3B8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dirty="0">
                <a:solidFill>
                  <a:srgbClr val="1E293B"/>
                </a:solidFill>
                <a:latin typeface="Poppins"/>
              </a:rPr>
              <a:t>Strategic returns from analysis</a:t>
            </a:r>
            <a:endParaRPr sz="2700" b="0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4875" y="2901612"/>
            <a:ext cx="10715625" cy="236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Improving operational efficiency: Linking fuel consumption to distances and flight times to identify the most economically efficient aircraft.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4875" y="3255287"/>
            <a:ext cx="10715625" cy="492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Precise financial control: Using indicators such as the Maintenance-to-Operating Ratio to predict emergency repair costs and make the decision to retire old aircraft.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4875" y="3788842"/>
            <a:ext cx="10715625" cy="492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Enhancing customer loyalty: Analyzing traveler behavior across loyalty programs and age groups to provide personalized offers that increase customer satisfaction rates.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4875" y="4352377"/>
            <a:ext cx="10715625" cy="492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350" b="1" dirty="0">
                <a:solidFill>
                  <a:srgbClr val="1E293B"/>
                </a:solidFill>
                <a:latin typeface="Lato"/>
              </a:rPr>
              <a:t>Predicting delays and cancellations: Building machine learning models that predict the causes of delays and minimize associated operational losses.</a:t>
            </a:r>
            <a:endParaRPr sz="1350" b="0" i="0" u="none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2542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5405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57625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436150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E89102-08F4-0462-C038-93F672083C30}"/>
              </a:ext>
            </a:extLst>
          </p:cNvPr>
          <p:cNvSpPr txBox="1"/>
          <p:nvPr/>
        </p:nvSpPr>
        <p:spPr>
          <a:xfrm>
            <a:off x="3537673" y="2953065"/>
            <a:ext cx="4334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Data analysis stages</a:t>
            </a:r>
          </a:p>
        </p:txBody>
      </p:sp>
    </p:spTree>
    <p:extLst>
      <p:ext uri="{BB962C8B-B14F-4D97-AF65-F5344CB8AC3E}">
        <p14:creationId xmlns:p14="http://schemas.microsoft.com/office/powerpoint/2010/main" val="752888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14980-3E96-A59C-D68E-EF5C61C5CCAA}"/>
              </a:ext>
            </a:extLst>
          </p:cNvPr>
          <p:cNvSpPr txBox="1"/>
          <p:nvPr/>
        </p:nvSpPr>
        <p:spPr>
          <a:xfrm>
            <a:off x="1289154" y="599607"/>
            <a:ext cx="1455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3600" dirty="0"/>
              <a:t>1</a:t>
            </a:r>
            <a:r>
              <a:rPr lang="en-US" sz="3600" dirty="0"/>
              <a:t>) EDA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79CE6E-CED6-4211-4EC9-5EE3D09C7A76}"/>
              </a:ext>
            </a:extLst>
          </p:cNvPr>
          <p:cNvSpPr/>
          <p:nvPr/>
        </p:nvSpPr>
        <p:spPr>
          <a:xfrm>
            <a:off x="434715" y="1708879"/>
            <a:ext cx="4676931" cy="424221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111E71-9CDB-1729-88C6-92FCD967106C}"/>
              </a:ext>
            </a:extLst>
          </p:cNvPr>
          <p:cNvSpPr/>
          <p:nvPr/>
        </p:nvSpPr>
        <p:spPr>
          <a:xfrm>
            <a:off x="6433272" y="1708879"/>
            <a:ext cx="4676931" cy="430467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1D486-7FEE-A592-2F81-73CF8B9910A2}"/>
              </a:ext>
            </a:extLst>
          </p:cNvPr>
          <p:cNvSpPr txBox="1"/>
          <p:nvPr/>
        </p:nvSpPr>
        <p:spPr>
          <a:xfrm>
            <a:off x="1693889" y="869430"/>
            <a:ext cx="3247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2) Data Cleaning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695CAA-9E04-030D-7B8A-34152F626343}"/>
              </a:ext>
            </a:extLst>
          </p:cNvPr>
          <p:cNvSpPr/>
          <p:nvPr/>
        </p:nvSpPr>
        <p:spPr>
          <a:xfrm>
            <a:off x="434715" y="1708879"/>
            <a:ext cx="11122701" cy="460198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3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6BB9D-23FD-2A18-8623-2EF0A65DF69D}"/>
              </a:ext>
            </a:extLst>
          </p:cNvPr>
          <p:cNvSpPr txBox="1"/>
          <p:nvPr/>
        </p:nvSpPr>
        <p:spPr>
          <a:xfrm>
            <a:off x="1019331" y="944380"/>
            <a:ext cx="4524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3) features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FBFAA-CF33-ACA8-78CF-773731BF2A3B}"/>
              </a:ext>
            </a:extLst>
          </p:cNvPr>
          <p:cNvSpPr/>
          <p:nvPr/>
        </p:nvSpPr>
        <p:spPr>
          <a:xfrm>
            <a:off x="374754" y="1590711"/>
            <a:ext cx="11677338" cy="51398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F5F83B-836C-AF1B-1867-29311AF57B70}"/>
              </a:ext>
            </a:extLst>
          </p:cNvPr>
          <p:cNvSpPr txBox="1"/>
          <p:nvPr/>
        </p:nvSpPr>
        <p:spPr>
          <a:xfrm>
            <a:off x="1124262" y="869430"/>
            <a:ext cx="2851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4) Data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AA7890-4E70-EFDD-30B4-B4BECEE8DEA3}"/>
              </a:ext>
            </a:extLst>
          </p:cNvPr>
          <p:cNvSpPr/>
          <p:nvPr/>
        </p:nvSpPr>
        <p:spPr>
          <a:xfrm>
            <a:off x="119921" y="1515761"/>
            <a:ext cx="11902190" cy="515486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22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3E732-F19E-915A-70D6-B5E032983D84}"/>
              </a:ext>
            </a:extLst>
          </p:cNvPr>
          <p:cNvSpPr txBox="1"/>
          <p:nvPr/>
        </p:nvSpPr>
        <p:spPr>
          <a:xfrm>
            <a:off x="1019331" y="674561"/>
            <a:ext cx="2846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5) Summarize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7433AB-CDCF-6C67-6BBF-F2E60B4F21B6}"/>
              </a:ext>
            </a:extLst>
          </p:cNvPr>
          <p:cNvSpPr/>
          <p:nvPr/>
        </p:nvSpPr>
        <p:spPr>
          <a:xfrm>
            <a:off x="134911" y="1618938"/>
            <a:ext cx="11947161" cy="499172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48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72374-297F-AFF0-81AA-9A63478D8353}"/>
              </a:ext>
            </a:extLst>
          </p:cNvPr>
          <p:cNvSpPr txBox="1"/>
          <p:nvPr/>
        </p:nvSpPr>
        <p:spPr>
          <a:xfrm>
            <a:off x="1199213" y="869430"/>
            <a:ext cx="2472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6) </a:t>
            </a:r>
            <a:r>
              <a:rPr lang="en-US" sz="3600" dirty="0" err="1"/>
              <a:t>Dashbord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30884F-E27C-D9F4-B581-C09B0292C465}"/>
              </a:ext>
            </a:extLst>
          </p:cNvPr>
          <p:cNvSpPr/>
          <p:nvPr/>
        </p:nvSpPr>
        <p:spPr>
          <a:xfrm>
            <a:off x="269822" y="1515761"/>
            <a:ext cx="11922177" cy="510989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3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55EF4E-56A8-0F99-65B3-A1F223285D0D}"/>
              </a:ext>
            </a:extLst>
          </p:cNvPr>
          <p:cNvSpPr txBox="1"/>
          <p:nvPr/>
        </p:nvSpPr>
        <p:spPr>
          <a:xfrm>
            <a:off x="2398427" y="2938067"/>
            <a:ext cx="7285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327</Words>
  <Application>Microsoft Office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Yousef Mohammed</cp:lastModifiedBy>
  <cp:revision>3</cp:revision>
  <dcterms:created xsi:type="dcterms:W3CDTF">2013-01-27T09:14:16Z</dcterms:created>
  <dcterms:modified xsi:type="dcterms:W3CDTF">2026-09-05T15:15:25Z</dcterms:modified>
  <cp:category/>
</cp:coreProperties>
</file>